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Clinical Record Linkage &amp; Care-Coordination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sz="1400" dirty="0">
                <a:solidFill>
                  <a:srgbClr val="0070C0"/>
                </a:solidFill>
              </a:rPr>
              <a:t>2520090027 - Bhupathi Gedela</a:t>
            </a:r>
          </a:p>
          <a:p>
            <a:r>
              <a:rPr lang="en-US" sz="1400" dirty="0">
                <a:solidFill>
                  <a:srgbClr val="0070C0"/>
                </a:solidFill>
              </a:rPr>
              <a:t>2520090064 - Laxman Raj Teja</a:t>
            </a:r>
          </a:p>
          <a:p>
            <a:r>
              <a:rPr lang="en-US" sz="1400" dirty="0">
                <a:solidFill>
                  <a:srgbClr val="0070C0"/>
                </a:solidFill>
              </a:rPr>
              <a:t>2520090086 - Shashank Bangale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Flow Chart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Abstract Body"/>
          <p:cNvSpPr txBox="1"/>
          <p:nvPr/>
        </p:nvSpPr>
        <p:spPr>
          <a:xfrm>
            <a:off x="685800" y="1752100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The Clinical Record Linkage &amp; Care-Coordination Platform addresses the persistent problem of fragmented patient data across hospitals, clinics, diagnostic labs, and pharmacies. In the absence of a universal patient identifier, the same individual's records are scattered across systems that cannot recognise one another.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This project designs and evaluates a probabilistic record-linkage engine that ingests HL7 FHIR-formatted records, resolves duplicate patient identities using a blended deterministic and machine-learning matching approach, and builds a longitudinal Master Patient Index (MPI). A care-coordination dashboard then surfaces the unified record to clinicians, flags conflicting medications, and alerts care teams to gaps in follow-up care.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On a synthetic multi-provider dataset of 250,000 patient records, the system achieved a linkage accuracy of 96.8% with a false-positive rate below 0.4%, demonstrating that entity resolution can be both fast and safe enough for clinical use.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Linkage accuracy: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96.8%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False-positive rate: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&lt;0.4%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Synthetic patient records: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250K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Source systems integrated: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1" name="Introduction Body"/>
          <p:cNvSpPr txBox="1"/>
          <p:nvPr/>
        </p:nvSpPr>
        <p:spPr>
          <a:xfrm>
            <a:off x="685800" y="2016793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just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Healthcare delivery today spans many independent systems — hospital EHRs, pharmacy software, lab information systems, and insurance portals — most of which store patient data under system-specific IDs. When a patient moves between providers, their history rarely moves with them.</a:t>
            </a:r>
          </a:p>
          <a:p>
            <a:pPr marL="228600" indent="-228600" algn="just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Fragmented Identity: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The same patient can exist as dozens of unlinked records across facilities, with no shared national identifier in many regions.</a:t>
            </a:r>
          </a:p>
          <a:p>
            <a:pPr marL="228600" indent="-228600" algn="just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Interoperability Gaps: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Legacy systems export incompatible formats; HL7 FHIR adoption is uneven, so records rarely align out of the box.</a:t>
            </a:r>
          </a:p>
          <a:p>
            <a:pPr marL="228600" indent="-228600" algn="just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Care Continuity Risk: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Missing history contributes to duplicate testing, conflicting prescriptions, and delayed diagnoses during handoffs.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1" name="LitSurvey Body"/>
          <p:cNvSpPr txBox="1"/>
          <p:nvPr/>
        </p:nvSpPr>
        <p:spPr>
          <a:xfrm>
            <a:off x="685800" y="2842966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 algn="just">
              <a:lnSpc>
                <a:spcPct val="118000"/>
              </a:lnSpc>
              <a:spcAft>
                <a:spcPts val="5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Fellegi–Sunter Model (1969) —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Probabilistic field-weight matching. </a:t>
            </a:r>
            <a:r>
              <a:rPr lang="en-US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Limitation: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No learning from feedback; static weights degrade on noisy data</a:t>
            </a:r>
          </a:p>
          <a:p>
            <a:pPr marL="228600" indent="-228600" algn="just">
              <a:lnSpc>
                <a:spcPct val="118000"/>
              </a:lnSpc>
              <a:spcAft>
                <a:spcPts val="5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Deterministic Rule Linkage —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Exact-match on ID / name / DOB rules. </a:t>
            </a:r>
            <a:r>
              <a:rPr lang="en-US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Limitation: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Brittle to typos, aliases, and formatting differences</a:t>
            </a:r>
          </a:p>
          <a:p>
            <a:pPr marL="228600" indent="-228600" algn="just">
              <a:lnSpc>
                <a:spcPct val="118000"/>
              </a:lnSpc>
              <a:spcAft>
                <a:spcPts val="5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FHIR-based Interoperability Studies —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Standardized resource exchange. </a:t>
            </a:r>
            <a:r>
              <a:rPr lang="en-US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Limitation: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Solves format, not identity resolution across sources</a:t>
            </a:r>
          </a:p>
          <a:p>
            <a:pPr marL="228600" indent="-228600" algn="just">
              <a:lnSpc>
                <a:spcPct val="118000"/>
              </a:lnSpc>
              <a:spcAft>
                <a:spcPts val="5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ML-based Entity Resolution —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Supervised classifiers (RF, XGBoost). </a:t>
            </a:r>
            <a:r>
              <a:rPr lang="en-US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Limitation: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Requires large labeled match/non-match training sets</a:t>
            </a:r>
          </a:p>
          <a:p>
            <a:pPr marL="228600" indent="-228600" algn="just">
              <a:lnSpc>
                <a:spcPct val="118000"/>
              </a:lnSpc>
              <a:spcAft>
                <a:spcPts val="55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Blockchain EHR Proposals —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Distributed ledger for record custody. </a:t>
            </a:r>
            <a:r>
              <a:rPr lang="en-US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Limitation: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High infra overhead; identity linkage still unresolved</a:t>
            </a:r>
          </a:p>
          <a:p>
            <a:pPr marL="0" indent="0" algn="just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Gap identified: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no prior system combines FHIR-native ingestion, adaptive ML-assisted linkage, and a live care-coordination layer in one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1" name="ProblemObjectives Body"/>
          <p:cNvSpPr txBox="1"/>
          <p:nvPr/>
        </p:nvSpPr>
        <p:spPr>
          <a:xfrm>
            <a:off x="685800" y="1880436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just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</a:t>
            </a:r>
          </a:p>
          <a:p>
            <a:pPr marL="0" indent="0" algn="just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Patient records generated across independent healthcare systems cannot be reliably linked to a single identity, and there is no unified view available to care teams at the point of care. This leads to redundant diagnostics, medication conflicts, and preventable delays in treatment — especially for patients managed by multiple providers.</a:t>
            </a:r>
          </a:p>
          <a:p>
            <a:pPr marL="0" indent="0" algn="just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Objectives</a:t>
            </a:r>
          </a:p>
          <a:p>
            <a:pPr marL="228600" indent="-228600" algn="just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Design an FHIR-native ingestion layer that normalizes records from heterogeneous source systems</a:t>
            </a:r>
          </a:p>
          <a:p>
            <a:pPr marL="228600" indent="-228600" algn="just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Build a hybrid deterministic + ML record-linkage engine to resolve duplicate patient identities</a:t>
            </a:r>
          </a:p>
          <a:p>
            <a:pPr marL="228600" indent="-228600" algn="just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Construct a longitudinal Master Patient Index (MPI) as the single source of truth per patient</a:t>
            </a:r>
          </a:p>
          <a:p>
            <a:pPr marL="228600" indent="-228600" algn="just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Deliver a care-coordination dashboard with conflict alerts (medications, allergies, follow-ups)</a:t>
            </a:r>
          </a:p>
          <a:p>
            <a:pPr marL="228600" indent="-228600" algn="just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Evaluate linkage accuracy, latency, and false-positive rate against a labeled benchmark set</a:t>
            </a:r>
          </a:p>
          <a:p>
            <a:pPr marL="0" indent="0" algn="just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Calibri" panose="020F0502020204030204" pitchFamily="34" charset="0"/>
              </a:rPr>
              <a:t>Guiding question: </a:t>
            </a:r>
            <a:r>
              <a:rPr lang="en-US" sz="1500" i="1" dirty="0">
                <a:solidFill>
                  <a:srgbClr val="000000"/>
                </a:solidFill>
                <a:latin typeface="Calibri" panose="020F0502020204030204" pitchFamily="34" charset="0"/>
              </a:rPr>
              <a:t>“How can disparate clinical records be linked accurately enough to support real-time care decisions?”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01" name="FlowChart Body"/>
          <p:cNvSpPr txBox="1"/>
          <p:nvPr/>
        </p:nvSpPr>
        <p:spPr>
          <a:xfrm>
            <a:off x="685800" y="2121067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just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Proposed System Architecture</a:t>
            </a:r>
          </a:p>
          <a:p>
            <a:pPr marL="0" indent="0" algn="just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Source Systems → FHIR Normalization → Record-Linkage Engine → Master Patient Index → Care-Coordination Layer</a:t>
            </a:r>
          </a:p>
          <a:p>
            <a:pPr marL="228600" indent="-228600" algn="just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Source Systems: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Hospital EHR, Pharmacy, Labs, Insurance</a:t>
            </a:r>
          </a:p>
          <a:p>
            <a:pPr marL="228600" indent="-228600" algn="just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FHIR Normalization: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Maps each source into HL7 FHIR resources</a:t>
            </a:r>
          </a:p>
          <a:p>
            <a:pPr marL="228600" indent="-228600" algn="just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Record-Linkage Engine: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Deterministic rules + ML match scoring</a:t>
            </a:r>
          </a:p>
          <a:p>
            <a:pPr marL="228600" indent="-228600" algn="just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Master Patient Index: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Unified longitudinal patient record</a:t>
            </a:r>
          </a:p>
          <a:p>
            <a:pPr marL="228600" indent="-228600" algn="just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Care-Coordination Layer: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Dashboard, conflict alerts, care-team view</a:t>
            </a:r>
          </a:p>
          <a:p>
            <a:pPr marL="0" indent="0" algn="just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Calibri" panose="020F0502020204030204" pitchFamily="34" charset="0"/>
              </a:rPr>
              <a:t>Data flows left to right: raw records are standardized, matched to a single identity, consolidated, and made actionable for clinicians.</a:t>
            </a:r>
          </a:p>
          <a:p>
            <a:pPr marL="228600" indent="-228600" algn="just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End-to-end TLS, field-level encryption for PHI, and role-based access control are enforced at every stage of the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Results Body"/>
          <p:cNvSpPr txBox="1"/>
          <p:nvPr/>
        </p:nvSpPr>
        <p:spPr>
          <a:xfrm>
            <a:off x="685800" y="2056898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Linkage Method Comparison (%)</a:t>
            </a:r>
          </a:p>
          <a:p>
            <a:pPr marL="228600" indent="-228600" algn="l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Deterministic Only: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Precision 88.2%, Recall 79.5%, F1-Score 83.6%</a:t>
            </a:r>
          </a:p>
          <a:p>
            <a:pPr marL="228600" indent="-228600" algn="l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ML Only: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Precision 91.4%, Recall 93.0%, F1-Score 92.2%</a:t>
            </a:r>
          </a:p>
          <a:p>
            <a:pPr marL="228600" indent="-228600" algn="l">
              <a:lnSpc>
                <a:spcPct val="118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Hybrid (Proposed):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Precision 97.3%, Recall 96.5%, F1-Score 96.8%</a:t>
            </a:r>
          </a:p>
          <a:p>
            <a:pPr marL="0" indent="0" algn="l">
              <a:lnSpc>
                <a:spcPct val="118000"/>
              </a:lnSpc>
              <a:spcAft>
                <a:spcPts val="300"/>
              </a:spcAft>
              <a:buNone/>
            </a:pPr>
            <a:endParaRPr lang="en-US" sz="15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600" indent="-228600" algn="l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F1-score, hybrid linkage: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96.8%</a:t>
            </a:r>
          </a:p>
          <a:p>
            <a:pPr marL="228600" indent="-228600" algn="l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False-positive rate: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0.38%</a:t>
            </a:r>
          </a:p>
          <a:p>
            <a:pPr marL="228600" indent="-228600" algn="l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Avg. match latency / record: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210 ms</a:t>
            </a:r>
          </a:p>
          <a:p>
            <a:pPr marL="228600" indent="-228600" algn="l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Duplicate identities resolved: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12,400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1" name="HWSW Body"/>
          <p:cNvSpPr txBox="1"/>
          <p:nvPr/>
        </p:nvSpPr>
        <p:spPr>
          <a:xfrm>
            <a:off x="685800" y="1936585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Calibri" panose="020F0502020204030204" pitchFamily="34" charset="0"/>
              </a:rPr>
              <a:t>Hardware Requirements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Application Server: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8-core CPU, 32 GB RAM, 500 GB SSD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Database Server: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16-core CPU, 64 GB RAM, RAID-10 storage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Network: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1 Gbps intra-cluster link, VPN for remote sites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Client Devices: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Any modern browser-capable workstation or tablet</a:t>
            </a:r>
          </a:p>
          <a:p>
            <a:pPr marL="0" indent="0" algn="l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000000"/>
                </a:solidFill>
                <a:latin typeface="Calibri" panose="020F0502020204030204" pitchFamily="34" charset="0"/>
              </a:rPr>
              <a:t>Software Requirements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Backend &amp; ML: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Python, scikit-learn, FastAPI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Interoperability: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HAPI FHIR server, HL7 v2/v3 adapters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Data Layer: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PostgreSQL, Elasticsearch for fuzzy search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Frontend: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React, TypeScript, D3.js for dashboards</a:t>
            </a:r>
          </a:p>
          <a:p>
            <a:pPr marL="228600" indent="-228600" algn="l">
              <a:lnSpc>
                <a:spcPct val="118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</a:rPr>
              <a:t>Deployment: </a:t>
            </a:r>
            <a:r>
              <a:rPr lang="en-US" sz="1450" dirty="0">
                <a:solidFill>
                  <a:srgbClr val="000000"/>
                </a:solidFill>
                <a:latin typeface="Calibri" panose="020F0502020204030204" pitchFamily="34" charset="0"/>
              </a:rPr>
              <a:t>Docker, Kubernetes, Nginx reverse proxy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1" name="Conclusion Body"/>
          <p:cNvSpPr txBox="1"/>
          <p:nvPr/>
        </p:nvSpPr>
        <p:spPr>
          <a:xfrm>
            <a:off x="685800" y="2522122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 algn="l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</a:rPr>
              <a:t>A hybrid deterministic + ML record-linkage engine resolves patient identities with 96.8% accuracy on a 250K-record multi-source benchmark, outperforming either method alone.</a:t>
            </a:r>
          </a:p>
          <a:p>
            <a:pPr marL="228600" indent="-228600" algn="just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</a:rPr>
              <a:t>FHIR-native ingestion allows the platform to onboard new hospitals, labs, or pharmacy systems without custom point-to-point integrations.</a:t>
            </a:r>
          </a:p>
          <a:p>
            <a:pPr marL="228600" indent="-228600" algn="l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</a:rPr>
              <a:t>The care-coordination dashboard turns a unified record into actionable alerts, directly reducing duplicate testing and conflicting-prescription risk.</a:t>
            </a:r>
          </a:p>
          <a:p>
            <a:pPr marL="228600" indent="-228600" algn="l">
              <a:lnSpc>
                <a:spcPct val="118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</a:rPr>
              <a:t>Sub-second matching latency confirms the pipeline is viable for near real-time use at registration and point-of-care.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1" name="FutureScope Body"/>
          <p:cNvSpPr txBox="1"/>
          <p:nvPr/>
        </p:nvSpPr>
        <p:spPr>
          <a:xfrm>
            <a:off x="685800" y="2313573"/>
            <a:ext cx="10820400" cy="57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National Health ID Integration: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Bind the MPI to government-issued health IDs (e.g. ABHA) to shortcut linkage for newly onboarded systems.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NLP on Unstructured Notes: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Extract structured entities from clinical free-text and discharge summaries to enrich the matching feature set.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Blockchain-anchored Audit Trail: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Immutable logging of record access and merges for regulatory audit without centralizing custody.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Mobile Care-Team App: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Push conflict alerts and follow-up reminders directly to clinicians and community health workers in the field.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Federated Learning: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Improve the matching model across hospital networks without moving raw patient data off-site.</a:t>
            </a:r>
          </a:p>
          <a:p>
            <a:pPr marL="228600" indent="-228600" algn="just">
              <a:lnSpc>
                <a:spcPct val="118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anose="020F0502020204030204" pitchFamily="34" charset="0"/>
              </a:rPr>
              <a:t>Real-time Streaming Ingestion: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Move from batch FHIR imports to event-driven ingestion (Kafka) for near-instant MPI updates.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1143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Clinical Record Linkage &amp; Care-Coordination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Laxman raj teja Puram</cp:lastModifiedBy>
  <cp:revision>20</cp:revision>
  <dcterms:created xsi:type="dcterms:W3CDTF">2024-08-29T05:25:00Z</dcterms:created>
  <dcterms:modified xsi:type="dcterms:W3CDTF">2026-08-26T08:30:55Z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